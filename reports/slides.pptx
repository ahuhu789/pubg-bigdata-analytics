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36"/>
          </a:solidFill>
          <a:ln>
            <a:solidFill>
              <a:srgbClr val="0E1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8805"/>
                </a:solidFill>
              </a:defRPr>
            </a:pPr>
            <a:r>
              <a:t>BÁO CÁO ĐỒ ÁN MÔN HỌC NHẬP MÔN DỮ LIỆU LỚN</a:t>
            </a:r>
          </a:p>
          <a:p>
            <a:pPr>
              <a:spcBef>
                <a:spcPts val="1500"/>
              </a:spcBef>
              <a:defRPr sz="2800" b="1">
                <a:solidFill>
                  <a:srgbClr val="FFFFFF"/>
                </a:solidFill>
              </a:defRPr>
            </a:pPr>
            <a:r>
              <a:t>ỨNG DỤNG APACHE SPARK &amp; CASSANDRA TRONG PHÂN TÍCH DỮ LIỆU PUBG VÀ PHÁT HIỆN DẤU HIỆU GIAN LẬN</a:t>
            </a:r>
          </a:p>
          <a:p>
            <a:pPr>
              <a:spcBef>
                <a:spcPts val="1000"/>
              </a:spcBef>
              <a:defRPr sz="1400">
                <a:solidFill>
                  <a:srgbClr val="C8D2E1"/>
                </a:solidFill>
              </a:defRPr>
            </a:pPr>
            <a:r>
              <a:t>Phân tích quy mô lớn dữ liệu thể thao điện tử, kỹ nghệ đặc trưng hành vi và trực quan hóa thời gian thực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10332720" cy="1371600"/>
          </a:xfrm>
          <a:prstGeom prst="roundRect">
            <a:avLst/>
          </a:prstGeom>
          <a:solidFill>
            <a:srgbClr val="182B49"/>
          </a:solidFill>
          <a:ln>
            <a:solidFill>
              <a:srgbClr val="F188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GIẢNG VIÊN HƯỚNG DẪN: [ThS. Giảng Viên Hướng Dẫn - Placeholder]</a:t>
            </a:r>
          </a:p>
          <a:p>
            <a:pPr>
              <a:spcBef>
                <a:spcPts val="800"/>
              </a:spcBef>
              <a:defRPr sz="1300">
                <a:solidFill>
                  <a:srgbClr val="DCE6F5"/>
                </a:solidFill>
              </a:defRPr>
            </a:pPr>
            <a:r>
              <a:t>SINH VIÊN THỰC HIỆN: [Nguyễn Văn A - 20210001] | [Trần Thị B - 20210002] | [Lê Văn C - 20210003]  (Lớp: Nhóm 01)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8805"/>
                </a:solidFill>
              </a:defRPr>
            </a:pPr>
            <a:r>
              <a:t>ĐỒ ÁN MÔN HỌC: NHẬP MÔN BIG DATA</a:t>
            </a:r>
          </a:p>
          <a:p>
            <a:pPr>
              <a:defRPr sz="2200" b="1">
                <a:solidFill>
                  <a:srgbClr val="0E1C36"/>
                </a:solidFill>
              </a:defRPr>
            </a:pPr>
            <a:r>
              <a:t>Bối Cảnh Vấn Nạn Gian Lận Esports &amp; Mục Tiêu Bài Toán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EBF0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43214"/>
                </a:solidFill>
              </a:defRPr>
            </a:pPr>
            <a:r>
              <a:t>🚨 VẤN NẠN GIAN LẬN TRONG PUBG</a:t>
            </a:r>
          </a:p>
          <a:p>
            <a:pPr>
              <a:spcBef>
                <a:spcPts val="1000"/>
              </a:spcBef>
              <a:defRPr sz="1300"/>
            </a:pPr>
            <a:r>
              <a:t>• Tính khốc liệt: 100 người chơi/trận trên bản đồ 8x8 km; 1 kẻ gian lận phá hỏng trải nghiệm của 99 người còn lại.</a:t>
            </a:r>
          </a:p>
          <a:p>
            <a:pPr>
              <a:spcBef>
                <a:spcPts val="800"/>
              </a:spcBef>
              <a:defRPr sz="1300"/>
            </a:pPr>
            <a:r>
              <a:t>• Các hình thức gian lận: Aimbot (tự khóa mục tiêu), Teleport (dịch chuyển), Speed hack, No-recoil, Wallhack.</a:t>
            </a:r>
          </a:p>
          <a:p>
            <a:pPr>
              <a:spcBef>
                <a:spcPts val="800"/>
              </a:spcBef>
              <a:defRPr sz="1300"/>
            </a:pPr>
            <a:r>
              <a:t>• Hạn chế của Anti-Cheat Client: Hacker liên tục vượt qua quét chữ ký bộ nhớ bằng kernel drivers; đòi hỏi giải pháp phân tích máy chủ Big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BF0F5"/>
          </a:solidFill>
          <a:ln>
            <a:solidFill>
              <a:srgbClr val="F188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E1C36"/>
                </a:solidFill>
              </a:defRPr>
            </a:pPr>
            <a:r>
              <a:t>🎯 MỤC TIÊU CỦA ĐỒ ÁN BIG DATA</a:t>
            </a:r>
          </a:p>
          <a:p>
            <a:pPr>
              <a:spcBef>
                <a:spcPts val="1000"/>
              </a:spcBef>
              <a:defRPr sz="1300"/>
            </a:pPr>
            <a:r>
              <a:t>1. Tải tự động bộ dữ liệu PUBG 4.45M dòng từ Kaggle qua Kaggle CLI.</a:t>
            </a:r>
          </a:p>
          <a:p>
            <a:pPr>
              <a:spcBef>
                <a:spcPts val="800"/>
              </a:spcBef>
              <a:defRPr sz="1300"/>
            </a:pPr>
            <a:r>
              <a:t>2. Xử lý phân tán bằng PySpark: Làm sạch, bảo toàn cực trị, tổng hợp chỉ số.</a:t>
            </a:r>
          </a:p>
          <a:p>
            <a:pPr>
              <a:spcBef>
                <a:spcPts val="800"/>
              </a:spcBef>
              <a:defRPr sz="1300"/>
            </a:pPr>
            <a:r>
              <a:t>3. Phát hiện bất thường bằng PySpark MLlib KMeans &amp; khoảng cách tâm cụm.</a:t>
            </a:r>
          </a:p>
          <a:p>
            <a:pPr>
              <a:spcBef>
                <a:spcPts val="800"/>
              </a:spcBef>
              <a:defRPr sz="1300"/>
            </a:pPr>
            <a:r>
              <a:t>4. Lưu trữ phân tán NoSQL Apache Cassandra phục vụ truy vấn cao tốc.</a:t>
            </a:r>
          </a:p>
          <a:p>
            <a:pPr>
              <a:spcBef>
                <a:spcPts val="800"/>
              </a:spcBef>
              <a:defRPr sz="1300"/>
            </a:pPr>
            <a:r>
              <a:t>5. Xây dựng Dashboard Streamlit 4 trang có giải thích lý do (Explainability).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8805"/>
                </a:solidFill>
              </a:defRPr>
            </a:pPr>
            <a:r>
              <a:t>ĐỒ ÁN MÔN HỌC: NHẬP MÔN BIG DATA</a:t>
            </a:r>
          </a:p>
          <a:p>
            <a:pPr>
              <a:defRPr sz="2200" b="1">
                <a:solidFill>
                  <a:srgbClr val="0E1C36"/>
                </a:solidFill>
              </a:defRPr>
            </a:pPr>
            <a:r>
              <a:t>Khảo Sát Bộ Dữ Liệu PUBG &amp; Chiến Lược Lấy Mẫu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1645920"/>
          </a:xfrm>
          <a:prstGeom prst="roundRect">
            <a:avLst/>
          </a:prstGeom>
          <a:solidFill>
            <a:srgbClr val="EBF0F5"/>
          </a:solidFill>
          <a:ln>
            <a:solidFill>
              <a:srgbClr val="F188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E1C36"/>
                </a:solidFill>
              </a:defRPr>
            </a:pPr>
            <a:r>
              <a:t>4,446,966</a:t>
            </a:r>
          </a:p>
          <a:p>
            <a:pPr>
              <a:defRPr sz="1200" b="1">
                <a:solidFill>
                  <a:srgbClr val="F18805"/>
                </a:solidFill>
              </a:defRPr>
            </a:pPr>
            <a:r>
              <a:t>Tổng Bản Ghi Gốc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Dữ liệu người chơi thực tế trong từng trận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645920"/>
            <a:ext cx="2560320" cy="1645920"/>
          </a:xfrm>
          <a:prstGeom prst="roundRect">
            <a:avLst/>
          </a:prstGeom>
          <a:solidFill>
            <a:srgbClr val="EBF0F5"/>
          </a:solidFill>
          <a:ln>
            <a:solidFill>
              <a:srgbClr val="F188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E1C36"/>
                </a:solidFill>
              </a:defRPr>
            </a:pPr>
            <a:r>
              <a:t>29 Cột</a:t>
            </a:r>
          </a:p>
          <a:p>
            <a:pPr>
              <a:defRPr sz="1200" b="1">
                <a:solidFill>
                  <a:srgbClr val="F18805"/>
                </a:solidFill>
              </a:defRPr>
            </a:pPr>
            <a:r>
              <a:t>Thuộc Tính Schema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Bao quát chiến đấu, di chuyển, vật phẩm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560320" cy="1645920"/>
          </a:xfrm>
          <a:prstGeom prst="roundRect">
            <a:avLst/>
          </a:prstGeom>
          <a:solidFill>
            <a:srgbClr val="EBF0F5"/>
          </a:solidFill>
          <a:ln>
            <a:solidFill>
              <a:srgbClr val="F188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E1C36"/>
                </a:solidFill>
              </a:defRPr>
            </a:pPr>
            <a:r>
              <a:t>659.5 MB</a:t>
            </a:r>
          </a:p>
          <a:p>
            <a:pPr>
              <a:defRPr sz="1200" b="1">
                <a:solidFill>
                  <a:srgbClr val="F18805"/>
                </a:solidFill>
              </a:defRPr>
            </a:pPr>
            <a:r>
              <a:t>Dung Lượng Giải Nén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Tệp train_V2.csv từ Kaggle Competition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645920"/>
            <a:ext cx="2560320" cy="1645920"/>
          </a:xfrm>
          <a:prstGeom prst="roundRect">
            <a:avLst/>
          </a:prstGeom>
          <a:solidFill>
            <a:srgbClr val="EBF0F5"/>
          </a:solidFill>
          <a:ln>
            <a:solidFill>
              <a:srgbClr val="F188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E1C36"/>
                </a:solidFill>
              </a:defRPr>
            </a:pPr>
            <a:r>
              <a:t>1,000 Trận</a:t>
            </a:r>
          </a:p>
          <a:p>
            <a:pPr>
              <a:defRPr sz="1200" b="1">
                <a:solidFill>
                  <a:srgbClr val="F18805"/>
                </a:solidFill>
              </a:defRPr>
            </a:pPr>
            <a:r>
              <a:t>Tập Quick Độc Lập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94,428 bản ghi bảo toàn 100% cấu trúc trận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10698480" cy="2560320"/>
          </a:xfrm>
          <a:prstGeom prst="roundRect">
            <a:avLst/>
          </a:prstGeom>
          <a:solidFill>
            <a:srgbClr val="EBF0F5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1C36"/>
                </a:solidFill>
              </a:defRPr>
            </a:pPr>
            <a:r>
              <a:t>💡 NGUYÊN TẮC LẤY MẪU CHUẨN SENIOR DATA ENGINEER CHO BATTLE ROYALE:</a:t>
            </a:r>
          </a:p>
          <a:p>
            <a:pPr>
              <a:spcBef>
                <a:spcPts val="800"/>
              </a:spcBef>
              <a:defRPr sz="1300"/>
            </a:pPr>
            <a:r>
              <a:t>• Không lấy mẫu ngẫu nhiên từng dòng: Trong PUBG, lấy mẫu ngẫu nhiên sẽ làm đứt gãy mối quan hệ đồng đội (groupId) và thứ hạng killPlace (1..100) của trận đấu.</a:t>
            </a:r>
          </a:p>
          <a:p>
            <a:pPr>
              <a:spcBef>
                <a:spcPts val="800"/>
              </a:spcBef>
              <a:defRPr sz="1300"/>
            </a:pPr>
            <a:r>
              <a:t>• Lấy mẫu theo cụm matchId nguyên vẹn: Tập `train_quick.csv` giữ nguyên 100% người chơi của 1,000 trận đấu, bảo toàn mọi tương tác hồi sinh (revives), sát thương và tương quan xếp hạng.</a:t>
            </a:r>
          </a:p>
          <a:p>
            <a:pPr>
              <a:spcBef>
                <a:spcPts val="800"/>
              </a:spcBef>
              <a:defRPr sz="1300"/>
            </a:pPr>
            <a:r>
              <a:t>• Cấp độ thực thể: Id là mã người chơi trong 1 trận đấu; mô hình hướng tới phát hiện 'Bản ghi trận đấu bất thường', không giả định ID tài khoản xuyên suốt.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8805"/>
                </a:solidFill>
              </a:defRPr>
            </a:pPr>
            <a:r>
              <a:t>ĐỒ ÁN MÔN HỌC: NHẬP MÔN BIG DATA</a:t>
            </a:r>
          </a:p>
          <a:p>
            <a:pPr>
              <a:defRPr sz="2200" b="1">
                <a:solidFill>
                  <a:srgbClr val="0E1C36"/>
                </a:solidFill>
              </a:defRPr>
            </a:pPr>
            <a:r>
              <a:t>Ngăn Xếp Công Nghệ Big Data (Technology Stack)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EBF0F5"/>
          </a:solidFill>
          <a:ln>
            <a:solidFill>
              <a:srgbClr val="0E1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1C36"/>
                </a:solidFill>
              </a:defRPr>
            </a:pPr>
            <a:r>
              <a:t>Apache Spark 4.2.0</a:t>
            </a:r>
          </a:p>
          <a:p>
            <a:pPr>
              <a:spcBef>
                <a:spcPts val="400"/>
              </a:spcBef>
              <a:defRPr sz="1100" b="1">
                <a:solidFill>
                  <a:srgbClr val="F18805"/>
                </a:solidFill>
              </a:defRPr>
            </a:pPr>
            <a:r>
              <a:t>Động cơ xử lý phân tán</a:t>
            </a:r>
          </a:p>
          <a:p>
            <a:pPr>
              <a:spcBef>
                <a:spcPts val="800"/>
              </a:spcBef>
              <a:defRPr sz="1100"/>
            </a:pPr>
            <a:r>
              <a:t>• Tính toán In-Memory tốc độ cao</a:t>
            </a:r>
          </a:p>
          <a:p>
            <a:pPr>
              <a:spcBef>
                <a:spcPts val="800"/>
              </a:spcBef>
              <a:defRPr sz="1100"/>
            </a:pPr>
            <a:r>
              <a:t>• PySpark DataFrame &amp; Spark SQL</a:t>
            </a:r>
          </a:p>
          <a:p>
            <a:pPr>
              <a:spcBef>
                <a:spcPts val="800"/>
              </a:spcBef>
              <a:defRPr sz="1100"/>
            </a:pPr>
            <a:r>
              <a:t>• Tối ưu hóa Catalyst Optimizer</a:t>
            </a:r>
          </a:p>
          <a:p>
            <a:pPr>
              <a:spcBef>
                <a:spcPts val="800"/>
              </a:spcBef>
              <a:defRPr sz="1100"/>
            </a:pPr>
            <a:r>
              <a:t>• Spark MLlib huấn luyện phân cụm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645920"/>
            <a:ext cx="2560320" cy="4572000"/>
          </a:xfrm>
          <a:prstGeom prst="roundRect">
            <a:avLst/>
          </a:prstGeom>
          <a:solidFill>
            <a:srgbClr val="EBF0F5"/>
          </a:solidFill>
          <a:ln>
            <a:solidFill>
              <a:srgbClr val="F188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1C36"/>
                </a:solidFill>
              </a:defRPr>
            </a:pPr>
            <a:r>
              <a:t>Apache Cassandra 4.1</a:t>
            </a:r>
          </a:p>
          <a:p>
            <a:pPr>
              <a:spcBef>
                <a:spcPts val="400"/>
              </a:spcBef>
              <a:defRPr sz="1100" b="1">
                <a:solidFill>
                  <a:srgbClr val="F18805"/>
                </a:solidFill>
              </a:defRPr>
            </a:pPr>
            <a:r>
              <a:t>CSDL NoSQL Phân tán</a:t>
            </a:r>
          </a:p>
          <a:p>
            <a:pPr>
              <a:spcBef>
                <a:spcPts val="800"/>
              </a:spcBef>
              <a:defRPr sz="1100"/>
            </a:pPr>
            <a:r>
              <a:t>• Wide-Column Masterless Store</a:t>
            </a:r>
          </a:p>
          <a:p>
            <a:pPr>
              <a:spcBef>
                <a:spcPts val="800"/>
              </a:spcBef>
              <a:defRPr sz="1100"/>
            </a:pPr>
            <a:r>
              <a:t>• Tối ưu ghi hàng loạt (Batch Statement)</a:t>
            </a:r>
          </a:p>
          <a:p>
            <a:pPr>
              <a:spcBef>
                <a:spcPts val="800"/>
              </a:spcBef>
              <a:defRPr sz="1100"/>
            </a:pPr>
            <a:r>
              <a:t>• Query-Driven CQL Modeling</a:t>
            </a:r>
          </a:p>
          <a:p>
            <a:pPr>
              <a:spcBef>
                <a:spcPts val="800"/>
              </a:spcBef>
              <a:defRPr sz="1100"/>
            </a:pPr>
            <a:r>
              <a:t>• Không cần ALLOW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560320" cy="4572000"/>
          </a:xfrm>
          <a:prstGeom prst="roundRect">
            <a:avLst/>
          </a:prstGeom>
          <a:solidFill>
            <a:srgbClr val="EBF0F5"/>
          </a:solidFill>
          <a:ln>
            <a:solidFill>
              <a:srgbClr val="0E1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1C36"/>
                </a:solidFill>
              </a:defRPr>
            </a:pPr>
            <a:r>
              <a:t>Apache Parquet</a:t>
            </a:r>
          </a:p>
          <a:p>
            <a:pPr>
              <a:spcBef>
                <a:spcPts val="400"/>
              </a:spcBef>
              <a:defRPr sz="1100" b="1">
                <a:solidFill>
                  <a:srgbClr val="F18805"/>
                </a:solidFill>
              </a:defRPr>
            </a:pPr>
            <a:r>
              <a:t>Lưu trữ định dạng cột</a:t>
            </a:r>
          </a:p>
          <a:p>
            <a:pPr>
              <a:spcBef>
                <a:spcPts val="800"/>
              </a:spcBef>
              <a:defRPr sz="1100"/>
            </a:pPr>
            <a:r>
              <a:t>• Columnar Storage hiệu năng cao</a:t>
            </a:r>
          </a:p>
          <a:p>
            <a:pPr>
              <a:spcBef>
                <a:spcPts val="800"/>
              </a:spcBef>
              <a:defRPr sz="1100"/>
            </a:pPr>
            <a:r>
              <a:t>• Nén nén Snappy tiết kiệm ổ cứng</a:t>
            </a:r>
          </a:p>
          <a:p>
            <a:pPr>
              <a:spcBef>
                <a:spcPts val="800"/>
              </a:spcBef>
              <a:defRPr sz="1100"/>
            </a:pPr>
            <a:r>
              <a:t>• Lưu giữ Schema và Metadata chặt chẽ</a:t>
            </a:r>
          </a:p>
          <a:p>
            <a:pPr>
              <a:spcBef>
                <a:spcPts val="800"/>
              </a:spcBef>
              <a:defRPr sz="1100"/>
            </a:pPr>
            <a:r>
              <a:t>• Chia sẻ dữ liệu giữa Spark &amp; 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645920"/>
            <a:ext cx="2560320" cy="4572000"/>
          </a:xfrm>
          <a:prstGeom prst="roundRect">
            <a:avLst/>
          </a:prstGeom>
          <a:solidFill>
            <a:srgbClr val="EBF0F5"/>
          </a:solidFill>
          <a:ln>
            <a:solidFill>
              <a:srgbClr val="F188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1C36"/>
                </a:solidFill>
              </a:defRPr>
            </a:pPr>
            <a:r>
              <a:t>Streamlit + Plotly</a:t>
            </a:r>
          </a:p>
          <a:p>
            <a:pPr>
              <a:spcBef>
                <a:spcPts val="400"/>
              </a:spcBef>
              <a:defRPr sz="1100" b="1">
                <a:solidFill>
                  <a:srgbClr val="F18805"/>
                </a:solidFill>
              </a:defRPr>
            </a:pPr>
            <a:r>
              <a:t>Dashboard &amp; Trực quan</a:t>
            </a:r>
          </a:p>
          <a:p>
            <a:pPr>
              <a:spcBef>
                <a:spcPts val="800"/>
              </a:spcBef>
              <a:defRPr sz="1100"/>
            </a:pPr>
            <a:r>
              <a:t>• Giao diện tương tác 4 trang</a:t>
            </a:r>
          </a:p>
          <a:p>
            <a:pPr>
              <a:spcBef>
                <a:spcPts val="800"/>
              </a:spcBef>
              <a:defRPr sz="1100"/>
            </a:pPr>
            <a:r>
              <a:t>• Biểu đồ phân bố và scatter plot động</a:t>
            </a:r>
          </a:p>
          <a:p>
            <a:pPr>
              <a:spcBef>
                <a:spcPts val="800"/>
              </a:spcBef>
              <a:defRPr sz="1100"/>
            </a:pPr>
            <a:r>
              <a:t>• Hiển thị cảnh báo &amp; giải thích lý do</a:t>
            </a:r>
          </a:p>
          <a:p>
            <a:pPr>
              <a:spcBef>
                <a:spcPts val="800"/>
              </a:spcBef>
              <a:defRPr sz="1100"/>
            </a:pPr>
            <a:r>
              <a:t>• Truy vấn trực tiếp CSDL Cassandra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8805"/>
                </a:solidFill>
              </a:defRPr>
            </a:pPr>
            <a:r>
              <a:t>ĐỒ ÁN MÔN HỌC: NHẬP MÔN BIG DATA</a:t>
            </a:r>
          </a:p>
          <a:p>
            <a:pPr>
              <a:defRPr sz="2200" b="1">
                <a:solidFill>
                  <a:srgbClr val="0E1C36"/>
                </a:solidFill>
              </a:defRPr>
            </a:pPr>
            <a:r>
              <a:t>Kiến Trúc Luồng Dữ Liệu Tổng Thể (End-to-End Pipeline)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8805"/>
                </a:solidFill>
              </a:defRPr>
            </a:pPr>
            <a:r>
              <a:t>ĐỒ ÁN MÔN HỌC: NHẬP MÔN BIG DATA</a:t>
            </a:r>
          </a:p>
          <a:p>
            <a:pPr>
              <a:defRPr sz="2200" b="1">
                <a:solidFill>
                  <a:srgbClr val="0E1C36"/>
                </a:solidFill>
              </a:defRPr>
            </a:pPr>
            <a:r>
              <a:t>Tiền Xử Lý Dữ Liệu &amp; Nguyên Tắc Bảo Toàn Cực Trị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EBF0F5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E1C36"/>
                </a:solidFill>
              </a:defRPr>
            </a:pPr>
            <a:r>
              <a:t>🧹 LÀM SẠCH DỮ LIỆU CẤU TRÚC</a:t>
            </a:r>
          </a:p>
          <a:p>
            <a:pPr>
              <a:spcBef>
                <a:spcPts val="1000"/>
              </a:spcBef>
              <a:defRPr sz="1200"/>
            </a:pPr>
            <a:r>
              <a:t>• Kiểm tra tính toàn vẹn khóa: Loại bỏ bản ghi thiếu Id, matchId hoặc groupId.</a:t>
            </a:r>
          </a:p>
          <a:p>
            <a:pPr>
              <a:spcBef>
                <a:spcPts val="1000"/>
              </a:spcBef>
              <a:defRPr sz="1200"/>
            </a:pPr>
            <a:r>
              <a:t>• Xử lý khuyết tật winPlacePerc: Trong 4.45M dòng có chính xác 1 dòng bị null do người chơi ngắt kết nối được lọc bỏ tự động.</a:t>
            </a:r>
          </a:p>
          <a:p>
            <a:pPr>
              <a:spcBef>
                <a:spcPts val="1000"/>
              </a:spcBef>
              <a:defRPr sz="1200"/>
            </a:pPr>
            <a:r>
              <a:t>• Lọc lỗi truyền cảm biến: Khoảng cách âm hoặc thời lượng trận đấu âm bị loại bỏ.</a:t>
            </a:r>
          </a:p>
          <a:p>
            <a:pPr>
              <a:spcBef>
                <a:spcPts val="1000"/>
              </a:spcBef>
              <a:defRPr sz="1200"/>
            </a:pPr>
            <a:r>
              <a:t>• Hiệu năng PySpark: Kiểm tra null bằng PySpark expression phân tán, không tải dữ liệu về Driver bằng collect() vô tội vạ.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BF0F5"/>
          </a:solidFill>
          <a:ln>
            <a:solidFill>
              <a:srgbClr val="B43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43214"/>
                </a:solidFill>
              </a:defRPr>
            </a:pPr>
            <a:r>
              <a:t>⚠️ BẢO TOÀN ĐIỂM CỰC TRỊ (EXTREME VALUES)</a:t>
            </a:r>
          </a:p>
          <a:p>
            <a:pPr>
              <a:spcBef>
                <a:spcPts val="1000"/>
              </a:spcBef>
              <a:defRPr sz="1200"/>
            </a:pPr>
            <a:r>
              <a:t>• Sai lầm phổ biến: Nhiều dự án tự động loại bỏ các điểm ngoại lai (outliers) như 30 kills, 3000 sát thương vì nghĩ là dữ liệu lỗi.</a:t>
            </a:r>
          </a:p>
          <a:p>
            <a:pPr>
              <a:spcBef>
                <a:spcPts val="1000"/>
              </a:spcBef>
              <a:defRPr sz="1200"/>
            </a:pPr>
            <a:r>
              <a:t>• Bản chất bài toán Anomaly: Các chỉ số cực trị đó chính là 'vết tích' quan trọng nhất của các đối tượng sử dụng Aimbot hoặc gian lận!</a:t>
            </a:r>
          </a:p>
          <a:p>
            <a:pPr>
              <a:spcBef>
                <a:spcPts val="1000"/>
              </a:spcBef>
              <a:defRPr sz="1200"/>
            </a:pPr>
            <a:r>
              <a:t>• Nguyên tắc dự án: Giữ lại 100% các giá trị cực đoan để đưa vào thuật toán phân cụm KMeans và tính toán khoảng cách độ lệch.</a:t>
            </a:r>
          </a:p>
          <a:p>
            <a:pPr>
              <a:spcBef>
                <a:spcPts val="1000"/>
              </a:spcBef>
              <a:defRPr sz="1200"/>
            </a:pPr>
            <a:r>
              <a:t>• Độ giữ lại thực tế (Retention Rate): 100.0% trên tập quick và 99.9999% trên tập full.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8805"/>
                </a:solidFill>
              </a:defRPr>
            </a:pPr>
            <a:r>
              <a:t>ĐỒ ÁN MÔN HỌC: NHẬP MÔN BIG DATA</a:t>
            </a:r>
          </a:p>
          <a:p>
            <a:pPr>
              <a:defRPr sz="2200" b="1">
                <a:solidFill>
                  <a:srgbClr val="0E1C36"/>
                </a:solidFill>
              </a:defRPr>
            </a:pPr>
            <a:r>
              <a:t>Giải Thuật Phát Hiện Bất Thường Không Giám Sát (MLlib KMeans)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EBF0F5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1C36"/>
                </a:solidFill>
              </a:defRPr>
            </a:pPr>
            <a:r>
              <a:t>1. Kỹ nghệ đặc trưng 8D</a:t>
            </a:r>
          </a:p>
          <a:p>
            <a:pPr>
              <a:spcBef>
                <a:spcPts val="400"/>
              </a:spcBef>
              <a:defRPr sz="1100" b="1">
                <a:solidFill>
                  <a:srgbClr val="F18805"/>
                </a:solidFill>
              </a:defRPr>
            </a:pPr>
            <a:r>
              <a:t>Vector 8 chiều chuẩn hóa:</a:t>
            </a:r>
          </a:p>
          <a:p>
            <a:pPr>
              <a:spcBef>
                <a:spcPts val="800"/>
              </a:spcBef>
              <a:defRPr sz="1100"/>
            </a:pPr>
            <a:r>
              <a:t>• kills, damageDealt, headshotKills</a:t>
            </a:r>
          </a:p>
          <a:p>
            <a:pPr>
              <a:spcBef>
                <a:spcPts val="800"/>
              </a:spcBef>
              <a:defRPr sz="1100"/>
            </a:pPr>
            <a:r>
              <a:t>• longestKill, totalDistance</a:t>
            </a:r>
          </a:p>
          <a:p>
            <a:pPr>
              <a:spcBef>
                <a:spcPts val="800"/>
              </a:spcBef>
              <a:defRPr sz="1100"/>
            </a:pPr>
            <a:r>
              <a:t>• headshotRate, damagePerKill, killsPerWalkKm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645920"/>
            <a:ext cx="2560320" cy="4572000"/>
          </a:xfrm>
          <a:prstGeom prst="roundRect">
            <a:avLst/>
          </a:prstGeom>
          <a:solidFill>
            <a:srgbClr val="EBF0F5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1C36"/>
                </a:solidFill>
              </a:defRPr>
            </a:pPr>
            <a:r>
              <a:t>2. Phân cụm KMeans</a:t>
            </a:r>
          </a:p>
          <a:p>
            <a:pPr>
              <a:spcBef>
                <a:spcPts val="400"/>
              </a:spcBef>
              <a:defRPr sz="1100" b="1">
                <a:solidFill>
                  <a:srgbClr val="F18805"/>
                </a:solidFill>
              </a:defRPr>
            </a:pPr>
            <a:r>
              <a:t>Huấn luyện Spark MLlib:</a:t>
            </a:r>
          </a:p>
          <a:p>
            <a:pPr>
              <a:spcBef>
                <a:spcPts val="800"/>
              </a:spcBef>
              <a:defRPr sz="1100"/>
            </a:pPr>
            <a:r>
              <a:t>• k = 4 cụm phân tách phong cách thi đấu</a:t>
            </a:r>
          </a:p>
          <a:p>
            <a:pPr>
              <a:spcBef>
                <a:spcPts val="800"/>
              </a:spcBef>
              <a:defRPr sz="1100"/>
            </a:pPr>
            <a:r>
              <a:t>• Silhouette Score = 0.4665</a:t>
            </a:r>
          </a:p>
          <a:p>
            <a:pPr>
              <a:spcBef>
                <a:spcPts val="800"/>
              </a:spcBef>
              <a:defRPr sz="1100"/>
            </a:pPr>
            <a:r>
              <a:t>• Xác định tâm cụm C_k đa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560320" cy="4572000"/>
          </a:xfrm>
          <a:prstGeom prst="roundRect">
            <a:avLst/>
          </a:prstGeom>
          <a:solidFill>
            <a:srgbClr val="EBF0F5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1C36"/>
                </a:solidFill>
              </a:defRPr>
            </a:pPr>
            <a:r>
              <a:t>3. Khoảng cách Native Catalyst</a:t>
            </a:r>
          </a:p>
          <a:p>
            <a:pPr>
              <a:spcBef>
                <a:spcPts val="400"/>
              </a:spcBef>
              <a:defRPr sz="1100" b="1">
                <a:solidFill>
                  <a:srgbClr val="F18805"/>
                </a:solidFill>
              </a:defRPr>
            </a:pPr>
            <a:r>
              <a:t>Khoảng cách Euclidean:</a:t>
            </a:r>
          </a:p>
          <a:p>
            <a:pPr>
              <a:spcBef>
                <a:spcPts val="800"/>
              </a:spcBef>
              <a:defRPr sz="1100"/>
            </a:pPr>
            <a:r>
              <a:t>• Tính toán 100% bằng Spark SQL Catalyst</a:t>
            </a:r>
          </a:p>
          <a:p>
            <a:pPr>
              <a:spcBef>
                <a:spcPts val="800"/>
              </a:spcBef>
              <a:defRPr sz="1100"/>
            </a:pPr>
            <a:r>
              <a:t>• Ngưỡng phân vị 99.5% d = 6.6916</a:t>
            </a:r>
          </a:p>
          <a:p>
            <a:pPr>
              <a:spcBef>
                <a:spcPts val="800"/>
              </a:spcBef>
              <a:defRPr sz="1100"/>
            </a:pPr>
            <a:r>
              <a:t>• Khoảng cách cực đại đo được: 104.61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645920"/>
            <a:ext cx="2560320" cy="4572000"/>
          </a:xfrm>
          <a:prstGeom prst="roundRect">
            <a:avLst/>
          </a:prstGeom>
          <a:solidFill>
            <a:srgbClr val="EBF0F5"/>
          </a:solidFill>
          <a:ln>
            <a:solidFill>
              <a:srgbClr val="F188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1C36"/>
                </a:solidFill>
              </a:defRPr>
            </a:pPr>
            <a:r>
              <a:t>4. Cờ vi phạm vật lý</a:t>
            </a:r>
          </a:p>
          <a:p>
            <a:pPr>
              <a:spcBef>
                <a:spcPts val="400"/>
              </a:spcBef>
              <a:defRPr sz="1100" b="1">
                <a:solidFill>
                  <a:srgbClr val="F18805"/>
                </a:solidFill>
              </a:defRPr>
            </a:pPr>
            <a:r>
              <a:t>Quy luật game PUBG:</a:t>
            </a:r>
          </a:p>
          <a:p>
            <a:pPr>
              <a:spcBef>
                <a:spcPts val="800"/>
              </a:spcBef>
              <a:defRPr sz="1100"/>
            </a:pPr>
            <a:r>
              <a:t>• Teleport: &gt;=5 kills nhưng đi bộ &lt;100m</a:t>
            </a:r>
          </a:p>
          <a:p>
            <a:pPr>
              <a:spcBef>
                <a:spcPts val="800"/>
              </a:spcBef>
              <a:defRPr sz="1100"/>
            </a:pPr>
            <a:r>
              <a:t>• Aimbot: &gt;=8 kills và headshotRate &gt;=85%</a:t>
            </a:r>
          </a:p>
          <a:p>
            <a:pPr>
              <a:spcBef>
                <a:spcPts val="800"/>
              </a:spcBef>
              <a:defRPr sz="1100"/>
            </a:pPr>
            <a:r>
              <a:t>• Bắn xa phi lý: cự ly hạ gục &gt; 1,000m</a:t>
            </a:r>
          </a:p>
          <a:p>
            <a:pPr>
              <a:spcBef>
                <a:spcPts val="800"/>
              </a:spcBef>
              <a:defRPr sz="1100"/>
            </a:pPr>
            <a:r>
              <a:t>• Speed: đi bộ vượt giới hạn (&gt;13km)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8805"/>
                </a:solidFill>
              </a:defRPr>
            </a:pPr>
            <a:r>
              <a:t>ĐỒ ÁN MÔN HỌC: NHẬP MÔN BIG DATA</a:t>
            </a:r>
          </a:p>
          <a:p>
            <a:pPr>
              <a:defRPr sz="2200" b="1">
                <a:solidFill>
                  <a:srgbClr val="0E1C36"/>
                </a:solidFill>
              </a:defRPr>
            </a:pPr>
            <a:r>
              <a:t>Kết Quả Phân Tích Thống Kê Trận Đấu &amp; Độ Tương Quan</a:t>
            </a:r>
          </a:p>
        </p:txBody>
      </p:sp>
      <p:pic>
        <p:nvPicPr>
          <p:cNvPr id="3" name="Picture 2" descr="match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606040"/>
          </a:xfrm>
          <a:prstGeom prst="rect">
            <a:avLst/>
          </a:prstGeom>
        </p:spPr>
      </p:pic>
      <p:pic>
        <p:nvPicPr>
          <p:cNvPr id="4" name="Picture 3" descr="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8805"/>
                </a:solidFill>
              </a:defRPr>
            </a:pPr>
            <a:r>
              <a:t>ĐỒ ÁN MÔN HỌC: NHẬP MÔN BIG DATA</a:t>
            </a:r>
          </a:p>
          <a:p>
            <a:pPr>
              <a:defRPr sz="2200" b="1">
                <a:solidFill>
                  <a:srgbClr val="0E1C36"/>
                </a:solidFill>
              </a:defRPr>
            </a:pPr>
            <a:r>
              <a:t>Giao Diện Dashboard Streamlit &amp; Cảnh Báo Anomaly</a:t>
            </a:r>
          </a:p>
        </p:txBody>
      </p:sp>
      <p:pic>
        <p:nvPicPr>
          <p:cNvPr id="3" name="Picture 2" descr="comba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340156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EBF0F5"/>
          </a:solidFill>
          <a:ln>
            <a:solidFill>
              <a:srgbClr val="F188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1C36"/>
                </a:solidFill>
              </a:defRPr>
            </a:pPr>
            <a:r>
              <a:t>🎯 CƠ CHẾ EXPLAINABILITY MINH BẠCH</a:t>
            </a:r>
          </a:p>
          <a:p>
            <a:pPr>
              <a:spcBef>
                <a:spcPts val="800"/>
              </a:spcBef>
              <a:defRPr sz="1100"/>
            </a:pPr>
            <a:r>
              <a:t>• Phát hiện 482 / 94,428 bản ghi (0.510%) có dấu hiệu bất thường rõ rệt.</a:t>
            </a:r>
          </a:p>
          <a:p>
            <a:pPr>
              <a:spcBef>
                <a:spcPts val="800"/>
              </a:spcBef>
              <a:defRPr sz="1100"/>
            </a:pPr>
            <a:r>
              <a:t>• Case 1 (Aimbot): 14 kills, 12 headshots (85.7%), sát thương 2,554.0. Điểm khoảng cách: 22.51.</a:t>
            </a:r>
          </a:p>
          <a:p>
            <a:pPr>
              <a:spcBef>
                <a:spcPts val="800"/>
              </a:spcBef>
              <a:defRPr sz="1100"/>
            </a:pPr>
            <a:r>
              <a:t>• Case 2 (Aimbot): 14 kills, 13 headshots (92.9% headshot rate!).</a:t>
            </a:r>
          </a:p>
          <a:p>
            <a:pPr>
              <a:spcBef>
                <a:spcPts val="800"/>
              </a:spcBef>
              <a:defRPr sz="1100"/>
            </a:pPr>
            <a:r>
              <a:t>• Case 3 (Teleport): 1 kill nhưng đi bộ 0.0m. Điểm khoảng cách tới tâm cụm lên tới 104.61.</a:t>
            </a:r>
          </a:p>
          <a:p>
            <a:pPr>
              <a:spcBef>
                <a:spcPts val="800"/>
              </a:spcBef>
              <a:defRPr sz="1100"/>
            </a:pPr>
            <a:r>
              <a:t>• Lợi ích: Trọng tài giải đấu biết chính xác lý do cảnh báo thay vì phán đoán mơ hồ.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8805"/>
                </a:solidFill>
              </a:defRPr>
            </a:pPr>
            <a:r>
              <a:t>ĐỒ ÁN MÔN HỌC: NHẬP MÔN BIG DATA</a:t>
            </a:r>
          </a:p>
          <a:p>
            <a:pPr>
              <a:defRPr sz="2200" b="1">
                <a:solidFill>
                  <a:srgbClr val="0E1C36"/>
                </a:solidFill>
              </a:defRPr>
            </a:pPr>
            <a:r>
              <a:t>Đo Lường Hiệu Năng Thực Tế (Benchmark Đo Lường Thực Tế)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18805"/>
                          </a:solidFill>
                        </a:defRPr>
                      </a:pPr>
                      <a:r>
                        <a:t>Giai đoạn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18805"/>
                          </a:solidFill>
                        </a:defRPr>
                      </a:pPr>
                      <a:r>
                        <a:t>Công nghệ thực thi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18805"/>
                          </a:solidFill>
                        </a:defRPr>
                      </a:pPr>
                      <a:r>
                        <a:t>Thời gian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18805"/>
                          </a:solidFill>
                        </a:defRPr>
                      </a:pPr>
                      <a:r>
                        <a:t>Tỷ lệ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1. Nạp dữ liệu 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PySpark CSV Reader với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1.45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2.3%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2. Tiền xử lý &amp; Làm sạch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PySpark Filter &amp;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5.94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9.3%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3. Phân tích thống kê trận đấu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Spark SQL &amp; Window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5.25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8.2%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4. Kỹ nghệ đặc trưng hành 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VectorAssembler &amp; StandardScaler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2.73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4.3%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5. Huấn luyện KMeans MLlib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PySpark MLlib &amp; Catalyst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22.96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35.8%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6. Ghi định dạng Parquet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Spark Parquet Writer (Snappy)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18.12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28.3%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7. Ingest vào CSDL Cassandra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Cassandra Batch 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7.58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11.8%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8805"/>
                </a:solidFill>
              </a:defRPr>
            </a:pPr>
            <a:r>
              <a:t>ĐỒ ÁN MÔN HỌC: NHẬP MÔN BIG DATA</a:t>
            </a:r>
          </a:p>
          <a:p>
            <a:pPr>
              <a:defRPr sz="2200" b="1">
                <a:solidFill>
                  <a:srgbClr val="0E1C36"/>
                </a:solidFill>
              </a:defRPr>
            </a:pPr>
            <a:r>
              <a:t>Hạn Chế Học Thuật &amp; Định Hướng Mở Rộng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EBF0F5"/>
          </a:solidFill>
          <a:ln>
            <a:solidFill>
              <a:srgbClr val="B43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43214"/>
                </a:solidFill>
              </a:defRPr>
            </a:pPr>
            <a:r>
              <a:t>⚠️ HẠN CHẾ &amp; THÁCH THỨC ĐẠO ĐỨC DỮ LIỆU</a:t>
            </a:r>
          </a:p>
          <a:p>
            <a:pPr>
              <a:spcBef>
                <a:spcPts val="800"/>
              </a:spcBef>
              <a:defRPr sz="1200"/>
            </a:pPr>
            <a:r>
              <a:t>• Thiếu nhãn Ground-Truth: Bộ dữ liệu Kaggle không có nhãn ban nick chính thức. Báo cáo Precision/Recall có giám sát là phi khoa học.</a:t>
            </a:r>
          </a:p>
          <a:p>
            <a:pPr>
              <a:spcBef>
                <a:spcPts val="800"/>
              </a:spcBef>
              <a:defRPr sz="1200"/>
            </a:pPr>
            <a:r>
              <a:t>• Nguy cơ False Positives: Tuyển thủ chuyên nghiệp (Pro-players) có thể đạt chỉ số sát thương và headshot vượt trội mà không gian lận.</a:t>
            </a:r>
          </a:p>
          <a:p>
            <a:pPr>
              <a:spcBef>
                <a:spcPts val="800"/>
              </a:spcBef>
              <a:defRPr sz="1200"/>
            </a:pPr>
            <a:r>
              <a:t>• Phạm vi định danh: Id chỉ là định danh trong trận; không thể theo dõi hành vi xuyên suốt nhiều ngày nếu thiếu Steam Account ID.</a:t>
            </a:r>
          </a:p>
          <a:p>
            <a:pPr>
              <a:spcBef>
                <a:spcPts val="800"/>
              </a:spcBef>
              <a:defRPr sz="1200"/>
            </a:pPr>
            <a:r>
              <a:t>• Độ trễ mạng (Desync): Hiện tượng lag mạng có thể gây sai lệch cảm biến vị trí người chơi.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BF0F5"/>
          </a:solidFill>
          <a:ln>
            <a:solidFill>
              <a:srgbClr val="0E1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1C36"/>
                </a:solidFill>
              </a:defRPr>
            </a:pPr>
            <a:r>
              <a:t>🚀 ĐỊNH HƯỚNG PHÁT TRIỂN TƯƠNG LAI</a:t>
            </a:r>
          </a:p>
          <a:p>
            <a:pPr>
              <a:spcBef>
                <a:spcPts val="1000"/>
              </a:spcBef>
              <a:defRPr sz="1200"/>
            </a:pPr>
            <a:r>
              <a:t>• Spark Streaming + Kafka: Xử lý luồng telemetry logs theo thời gian thực ngay khi trận đấu đang diễn ra.</a:t>
            </a:r>
          </a:p>
          <a:p>
            <a:pPr>
              <a:spcBef>
                <a:spcPts val="1000"/>
              </a:spcBef>
              <a:defRPr sz="1200"/>
            </a:pPr>
            <a:r>
              <a:t>• Deep Learning chuỗi thời gian: Dùng LSTM / Transformer phân tích chuỗi tọa độ (X, Y, Z) để phát hiện hành vi Wallhack/ESP nhìn xuyên tường.</a:t>
            </a:r>
          </a:p>
          <a:p>
            <a:pPr>
              <a:spcBef>
                <a:spcPts val="1000"/>
              </a:spcBef>
              <a:defRPr sz="1200"/>
            </a:pPr>
            <a:r>
              <a:t>• Cơ chế Feedback Loop: Tích hợp nút duyệt của trọng tài trên Streamlit để gắn nhãn thủ công, xây dựng tập ground-truth phục vụ mô hình bán giám sát (Semi-supervised).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36"/>
          </a:solidFill>
          <a:ln>
            <a:solidFill>
              <a:srgbClr val="0E1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8805"/>
                </a:solidFill>
              </a:defRPr>
            </a:pPr>
            <a:r>
              <a:t>TỔNG KẾT ĐỀ TÀI</a:t>
            </a:r>
          </a:p>
          <a:p>
            <a:pPr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HỆ THỐNG PHÂN TÍCH BIG DATA PUBG &amp; PHÁT HIỆN BẤT THƯỜNG HOÀN TẤT 100%</a:t>
            </a:r>
          </a:p>
          <a:p>
            <a:pPr>
              <a:spcBef>
                <a:spcPts val="800"/>
              </a:spcBef>
              <a:defRPr sz="1400">
                <a:solidFill>
                  <a:srgbClr val="DCEBFF"/>
                </a:solidFill>
              </a:defRPr>
            </a:pPr>
            <a:r>
              <a:t>✔ 1. Làm chủ công nghệ cốt lõi: PySpark tính toán phân tán + Cassandra NoSQL lưu trữ cao tốc.</a:t>
            </a:r>
          </a:p>
          <a:p>
            <a:pPr>
              <a:spcBef>
                <a:spcPts val="800"/>
              </a:spcBef>
              <a:defRPr sz="1400">
                <a:solidFill>
                  <a:srgbClr val="DCEBFF"/>
                </a:solidFill>
              </a:defRPr>
            </a:pPr>
            <a:r>
              <a:t>✔ 2. Giải thuật thực tiễn: K-Means MLlib phối hợp cờ vật lý, phát hiện 482 ca bất thường có diễn giải.</a:t>
            </a:r>
          </a:p>
          <a:p>
            <a:pPr>
              <a:spcBef>
                <a:spcPts val="800"/>
              </a:spcBef>
              <a:defRPr sz="1400">
                <a:solidFill>
                  <a:srgbClr val="DCEBFF"/>
                </a:solidFill>
              </a:defRPr>
            </a:pPr>
            <a:r>
              <a:t>✔ 3. Trực quan hóa hiện đại: Dashboard Streamlit 4 trang kết nối cơ sở dữ liệu thực.</a:t>
            </a:r>
          </a:p>
          <a:p>
            <a:pPr>
              <a:spcBef>
                <a:spcPts val="800"/>
              </a:spcBef>
              <a:defRPr sz="1400">
                <a:solidFill>
                  <a:srgbClr val="DCEBFF"/>
                </a:solidFill>
              </a:defRPr>
            </a:pPr>
            <a:r>
              <a:t>✔ 4. Kịch bản chạy mượt mà: Hoàn tất toàn bộ pipeline trong 64 giây ở chế độ Quick, sẵn sàng bảo vệ.</a:t>
            </a:r>
          </a:p>
          <a:p>
            <a:pPr>
              <a:spcBef>
                <a:spcPts val="2500"/>
              </a:spcBef>
              <a:defRPr sz="1800" b="1">
                <a:solidFill>
                  <a:srgbClr val="F18805"/>
                </a:solidFill>
              </a:defRPr>
            </a:pPr>
            <a:r>
              <a:t>CẢM ƠN THẦY CÔ VÀ HỘI ĐỒNG ĐÃ LẮNG NGHE! XIN MỜI ĐẶT CÂU HỎI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